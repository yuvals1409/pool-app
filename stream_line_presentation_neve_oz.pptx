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r>
              <a:rPr sz="1000" b="0" i="0" u="none" strike="noStrike">
                <a:solidFill>
                  <a:srgbClr val="64748B"/>
                </a:solidFill>
                <a:latin typeface="Arial"/>
              </a:rPr>
              <a:t>השוואת עלויות שנתיות (ש"ח)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עלות שנתית (ש"ח)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873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568B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עובד נוסף</c:v>
                  </c:pt>
                  <c:pt idx="1">
                    <c:v>Taking Control (שנתי)</c:v>
                  </c:pt>
                  <c:pt idx="2">
                    <c:v>Stream Line (שנה 1)</c:v>
                  </c:pt>
                  <c:pt idx="3">
                    <c:v>Stream Line (שנה 2+)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120000</c:v>
                </c:pt>
                <c:pt idx="1">
                  <c:v>84000</c:v>
                </c:pt>
                <c:pt idx="2">
                  <c:v>105400</c:v>
                </c:pt>
                <c:pt idx="3">
                  <c:v>50400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פתיחה: 'שי, מורן, תודה על ההזדמנות. לפני שאני מציג — רוצה להבין מה עובד ומה לא.'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שאל את מורן: 'כמה זמן ביום את מקדישה לניהול?' ו-'מה קורה כשלקוח רוצה לשלם?' תן להם לאשר את הכאבים.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הראה דמו חי! השקף הזה הוא רק טעימה. פתח את המערכת האמיתית עם נתונים של בית הספר.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זה הרגע הכי חזק. תגיד: 'אני יודע שבגלל מצב הניהול התקין אי אפשר לסלוק. מצאתי פתרון חוקי דרך PayMe.'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תציין: הוצאות המשרדיות של הקאנטרי עלו 23% השנה ל-242K. חלק ניכר זה נייר וטפסים.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אל תתקוף את Taking Control! תגיד: 'אני שם לב שהלידים מדפי הנחיתה לא מחוברים למערכת — כל ליד דורש טיפול ידני. כחלק מחבילת WhatsApp, אני בונה דפי נחיתה שמחוברים ישירות.' זה מוסיף ערך בלי לפגוע.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נקודה מפתח: סה"כ שנתי פחות מ-1% מהמחזור. ופחות ממשכורת של עובד.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סגירה: 'שי, מורן — איזו שכבה הכי דחופה לכם?' אל תלחץ על הכל. אם אומרים 'כן' לשכבה 1+2 — מעולה.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12801600" cy="4572000"/>
          </a:xfrm>
          <a:prstGeom prst="ellipse">
            <a:avLst/>
          </a:prstGeom>
          <a:solidFill>
            <a:srgbClr val="2568B0">
              <a:alpha val="20000"/>
            </a:srgbClr>
          </a:solidFill>
          <a:ln/>
        </p:spPr>
      </p:sp>
      <p:pic>
        <p:nvPicPr>
          <p:cNvPr id="3" name="Image 0" descr="/sessions/beautiful-awesome-goldberg/mnt/pool-app-cursor/public/stream-line-logo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0" y="365760"/>
            <a:ext cx="1828800" cy="1828800"/>
          </a:xfrm>
          <a:prstGeom prst="rect">
            <a:avLst/>
          </a:prstGeom>
        </p:spPr>
      </p:pic>
      <p:pic>
        <p:nvPicPr>
          <p:cNvPr id="4" name="Image 1" descr="/sessions/beautiful-awesome-goldberg/mnt/pool-app-cursor/public/log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132320" y="4114800"/>
            <a:ext cx="1645920" cy="640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31520" y="914400"/>
            <a:ext cx="5943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spc="8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LINE</a:t>
            </a:r>
            <a:endParaRPr lang="en-US" sz="4800" dirty="0"/>
          </a:p>
        </p:txBody>
      </p:sp>
      <p:sp>
        <p:nvSpPr>
          <p:cNvPr id="6" name="Text 2"/>
          <p:cNvSpPr/>
          <p:nvPr/>
        </p:nvSpPr>
        <p:spPr>
          <a:xfrm>
            <a:off x="731520" y="201168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4DA8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מערכת ניהול חכמה לבית הספר לשחייה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731520" y="2926080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מרכז ספורט נווה עוז  |  יוני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האתגרים של בית הספר לשחייה היום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749040" cy="1737360"/>
          </a:xfrm>
          <a:prstGeom prst="roundRect">
            <a:avLst>
              <a:gd name="adj" fmla="val 7895"/>
            </a:avLst>
          </a:prstGeom>
          <a:solidFill>
            <a:srgbClr val="F5F8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371600"/>
            <a:ext cx="1005840" cy="100584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71600"/>
            <a:ext cx="1005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85800" y="19659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מערכות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דיגיטליות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828800" y="1371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ידני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28800" y="173736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250-300 תלמידים מנוהלים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באקסלים ומחברות —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טעויות ואיבוד מידע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108960"/>
            <a:ext cx="3749040" cy="1737360"/>
          </a:xfrm>
          <a:prstGeom prst="roundRect">
            <a:avLst>
              <a:gd name="adj" fmla="val 7895"/>
            </a:avLst>
          </a:prstGeom>
          <a:solidFill>
            <a:srgbClr val="F5F8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85800" y="3291840"/>
            <a:ext cx="1005840" cy="100584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291840"/>
            <a:ext cx="1005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0₪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85800" y="38862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סליקה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אונליין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828800" y="3291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סליקה דיגיטלית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828800" y="36576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לקוחות חייבים להגיע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פיזית לשלם — מפסידים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לקוחות שרוצים לשלם מרחוק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1188720"/>
            <a:ext cx="3749040" cy="1737360"/>
          </a:xfrm>
          <a:prstGeom prst="roundRect">
            <a:avLst>
              <a:gd name="adj" fmla="val 7895"/>
            </a:avLst>
          </a:prstGeom>
          <a:solidFill>
            <a:srgbClr val="F5F8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800600" y="1371600"/>
            <a:ext cx="1005840" cy="100584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17" name="Text 15"/>
          <p:cNvSpPr/>
          <p:nvPr/>
        </p:nvSpPr>
        <p:spPr>
          <a:xfrm>
            <a:off x="4800600" y="1371600"/>
            <a:ext cx="1005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00600" y="19659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מענה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ידני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943600" y="1371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עומס על הצוות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943600" y="173736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מורן עונה לכל פנייה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ידנית — טלפונים,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וואטסאפ, מיילים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63440" y="3108960"/>
            <a:ext cx="3749040" cy="1737360"/>
          </a:xfrm>
          <a:prstGeom prst="roundRect">
            <a:avLst>
              <a:gd name="adj" fmla="val 7895"/>
            </a:avLst>
          </a:prstGeom>
          <a:solidFill>
            <a:srgbClr val="F5F8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800600" y="3291840"/>
            <a:ext cx="1005840" cy="100584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23" name="Text 21"/>
          <p:cNvSpPr/>
          <p:nvPr/>
        </p:nvSpPr>
        <p:spPr>
          <a:xfrm>
            <a:off x="4800600" y="3291840"/>
            <a:ext cx="1005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243K₪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800600" y="38862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משרדיות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בשנה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943600" y="3291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טפסים פיזיים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43600" y="36576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ערימות נייר לא מסודרות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הצהרות בריאות ורישומים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הולכים לאיבוד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Line CRM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8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מסך אחד במקום 5 שיטסים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0292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5029200" cy="320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38988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Line — לוח בקרה ראשי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1417320" cy="731520"/>
          </a:xfrm>
          <a:prstGeom prst="roundRect">
            <a:avLst>
              <a:gd name="adj" fmla="val 6250"/>
            </a:avLst>
          </a:prstGeom>
          <a:solidFill>
            <a:srgbClr val="F5F8FC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8745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287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22860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תלמידים פעילים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40280" y="1874520"/>
            <a:ext cx="1417320" cy="731520"/>
          </a:xfrm>
          <a:prstGeom prst="roundRect">
            <a:avLst>
              <a:gd name="adj" fmla="val 6250"/>
            </a:avLst>
          </a:prstGeom>
          <a:solidFill>
            <a:srgbClr val="F5F8FC"/>
          </a:solidFill>
          <a:ln/>
        </p:spPr>
      </p:sp>
      <p:sp>
        <p:nvSpPr>
          <p:cNvPr id="11" name="Text 9"/>
          <p:cNvSpPr/>
          <p:nvPr/>
        </p:nvSpPr>
        <p:spPr>
          <a:xfrm>
            <a:off x="2240280" y="18745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94%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240280" y="22860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נוכחות היום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840480" y="1874520"/>
            <a:ext cx="1417320" cy="731520"/>
          </a:xfrm>
          <a:prstGeom prst="roundRect">
            <a:avLst>
              <a:gd name="adj" fmla="val 6250"/>
            </a:avLst>
          </a:prstGeom>
          <a:solidFill>
            <a:srgbClr val="F5F8FC"/>
          </a:solidFill>
          <a:ln/>
        </p:spPr>
      </p:sp>
      <p:sp>
        <p:nvSpPr>
          <p:cNvPr id="14" name="Text 12"/>
          <p:cNvSpPr/>
          <p:nvPr/>
        </p:nvSpPr>
        <p:spPr>
          <a:xfrm>
            <a:off x="3840480" y="18745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8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47,200₪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840480" y="22860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הכנסות החודש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40080" y="2788920"/>
            <a:ext cx="4663440" cy="2743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27889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שם תלמיד          קבוצה          נוכחות          סטטוס תשלום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31520" y="310896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נועה כהן            דולפינים         נוכחת            שולם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31520" y="3364992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יובל לוי             כרישים           נוכח              שולם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31520" y="3621024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מאיה דוד           דולפינים         חסרה             חוב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760720" y="1371600"/>
            <a:ext cx="3017520" cy="32918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943600" y="15087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כולל?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092440" y="2011680"/>
            <a:ext cx="201168" cy="201168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0" y="19659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תלמידים וקבוצות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92440" y="2359152"/>
            <a:ext cx="201168" cy="201168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0" y="23134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מעקב נוכחות בזמן אמת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092440" y="2706624"/>
            <a:ext cx="201168" cy="201168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8" name="Text 26"/>
          <p:cNvSpPr/>
          <p:nvPr/>
        </p:nvSpPr>
        <p:spPr>
          <a:xfrm>
            <a:off x="5943600" y="266090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הערכות שחייה דיגיטליות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092440" y="3054096"/>
            <a:ext cx="201168" cy="201168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30" name="Text 28"/>
          <p:cNvSpPr/>
          <p:nvPr/>
        </p:nvSpPr>
        <p:spPr>
          <a:xfrm>
            <a:off x="5943600" y="300837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דוחות כספיים ותובנות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092440" y="3401568"/>
            <a:ext cx="201168" cy="201168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0" y="335584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עונות ומחירון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092440" y="3749040"/>
            <a:ext cx="201168" cy="201168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34" name="Text 32"/>
          <p:cNvSpPr/>
          <p:nvPr/>
        </p:nvSpPr>
        <p:spPr>
          <a:xfrm>
            <a:off x="5943600" y="37033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תשלומי מדריכים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092440" y="4096512"/>
            <a:ext cx="201168" cy="201168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36" name="Text 34"/>
          <p:cNvSpPr/>
          <p:nvPr/>
        </p:nvSpPr>
        <p:spPr>
          <a:xfrm>
            <a:off x="5943600" y="4050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התראות אוטומטיות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סליקה דיגיטלית + WhatsApp Bot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88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הפתרון שמערכת פיזיקל לא יכולה לתת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377440" cy="320040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25400">
            <a:solidFill>
              <a:srgbClr val="1E293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91640"/>
            <a:ext cx="2103120" cy="2560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691640"/>
            <a:ext cx="2103120" cy="365760"/>
          </a:xfrm>
          <a:prstGeom prst="rect">
            <a:avLst/>
          </a:prstGeom>
          <a:solidFill>
            <a:srgbClr val="00B0FF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0992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 — תשלום מאובטח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77240" y="2194560"/>
            <a:ext cx="1920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קורס שחייה — דולפינים</a:t>
            </a:r>
            <a:endParaRPr lang="en-US" sz="12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1,800 ₪ :סה"כ לתשלום</a:t>
            </a:r>
            <a:endParaRPr lang="en-US" sz="12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:מספר כרטיס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4521 •••• •••• ••••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" y="3886200"/>
            <a:ext cx="1645920" cy="320040"/>
          </a:xfrm>
          <a:prstGeom prst="roundRect">
            <a:avLst>
              <a:gd name="adj" fmla="val 14286"/>
            </a:avLst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886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שלם עכשיו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סליקה דיגיטלית ללא ניהול תקין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83280" y="1371600"/>
            <a:ext cx="2377440" cy="320040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25400">
            <a:solidFill>
              <a:srgbClr val="1E293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520440" y="1691640"/>
            <a:ext cx="2103120" cy="2560320"/>
          </a:xfrm>
          <a:prstGeom prst="rect">
            <a:avLst/>
          </a:prstGeom>
          <a:solidFill>
            <a:srgbClr val="ECE5DD"/>
          </a:solidFill>
          <a:ln/>
        </p:spPr>
      </p:sp>
      <p:sp>
        <p:nvSpPr>
          <p:cNvPr id="14" name="Shape 12"/>
          <p:cNvSpPr/>
          <p:nvPr/>
        </p:nvSpPr>
        <p:spPr>
          <a:xfrm>
            <a:off x="3520440" y="1691640"/>
            <a:ext cx="2103120" cy="365760"/>
          </a:xfrm>
          <a:prstGeom prst="rect">
            <a:avLst/>
          </a:prstGeom>
          <a:solidFill>
            <a:srgbClr val="075E54"/>
          </a:solidFill>
          <a:ln/>
        </p:spPr>
      </p:sp>
      <p:sp>
        <p:nvSpPr>
          <p:cNvPr id="15" name="Text 13"/>
          <p:cNvSpPr/>
          <p:nvPr/>
        </p:nvSpPr>
        <p:spPr>
          <a:xfrm>
            <a:off x="3566160" y="170992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Line Bot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886200" y="2148840"/>
            <a:ext cx="1645920" cy="274320"/>
          </a:xfrm>
          <a:prstGeom prst="roundRect">
            <a:avLst>
              <a:gd name="adj" fmla="val 26667"/>
            </a:avLst>
          </a:prstGeom>
          <a:solidFill>
            <a:srgbClr val="DCF8C6"/>
          </a:solidFill>
          <a:ln/>
        </p:spPr>
      </p:sp>
      <p:sp>
        <p:nvSpPr>
          <p:cNvPr id="17" name="Text 15"/>
          <p:cNvSpPr/>
          <p:nvPr/>
        </p:nvSpPr>
        <p:spPr>
          <a:xfrm>
            <a:off x="3959352" y="2176272"/>
            <a:ext cx="1499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רוצה לרשום את הילדה לשחייה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611880" y="2478024"/>
            <a:ext cx="164592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3685032" y="2505456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שלום! אשמח לעזור.</a:t>
            </a:r>
            <a:endParaRPr lang="en-US" sz="8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לאיזה גיל ורמה?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886200" y="2971800"/>
            <a:ext cx="1645920" cy="274320"/>
          </a:xfrm>
          <a:prstGeom prst="roundRect">
            <a:avLst>
              <a:gd name="adj" fmla="val 26667"/>
            </a:avLst>
          </a:prstGeom>
          <a:solidFill>
            <a:srgbClr val="DCF8C6"/>
          </a:solidFill>
          <a:ln/>
        </p:spPr>
      </p:sp>
      <p:sp>
        <p:nvSpPr>
          <p:cNvPr id="21" name="Text 19"/>
          <p:cNvSpPr/>
          <p:nvPr/>
        </p:nvSpPr>
        <p:spPr>
          <a:xfrm>
            <a:off x="3959352" y="2999232"/>
            <a:ext cx="1499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 7, מתחילה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611880" y="3300984"/>
            <a:ext cx="164592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3685032" y="3328416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 מקום בקבוצת "דולפינים"</a:t>
            </a:r>
            <a:endParaRPr lang="en-US" sz="8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ראשון+רביעי 16:00. לרשום?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38328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5E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בוט AI — מענה 24/7, חוסך 80% מהפניות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17920" y="164592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B2A4A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00800" y="182880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זה קריטי?</a:t>
            </a:r>
            <a:endParaRPr lang="en-US" sz="1600" dirty="0"/>
          </a:p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E88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פיזיקל לא יכולה לסלוק בגלל חוסר ניהול תקין</a:t>
            </a:r>
            <a:endParaRPr lang="en-US" sz="1600" dirty="0"/>
          </a:p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Line פותר את זה.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טפסים דיגיטליים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מנייר לדיגיטל — חתימה אלקטרונית, גיבוי אוטומטי, אפס אובדן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840480" cy="3108960"/>
          </a:xfrm>
          <a:prstGeom prst="roundRect">
            <a:avLst>
              <a:gd name="adj" fmla="val 2941"/>
            </a:avLst>
          </a:prstGeom>
          <a:solidFill>
            <a:srgbClr val="FEF2F2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5544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היום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703320" y="2148840"/>
            <a:ext cx="164592" cy="16459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1031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ערימות טפסים פיזיים לא מסודרים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03320" y="2560320"/>
            <a:ext cx="164592" cy="16459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5146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הצהרות בריאות הולכות לאיבוד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703320" y="2971800"/>
            <a:ext cx="164592" cy="16459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9260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חתימות ידניות — צריך להגיע למשרד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703320" y="3383280"/>
            <a:ext cx="164592" cy="16459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3375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גיבוי — שריפה/הצפה = אובדן הכל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703320" y="3794760"/>
            <a:ext cx="164592" cy="16459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7490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242,805 שקל הוצאות משרדיות בשנה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60520" y="25603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88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&gt;&gt;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4846320" y="1463040"/>
            <a:ext cx="3840480" cy="3108960"/>
          </a:xfrm>
          <a:prstGeom prst="roundRect">
            <a:avLst>
              <a:gd name="adj" fmla="val 2941"/>
            </a:avLst>
          </a:prstGeom>
          <a:solidFill>
            <a:srgbClr val="ECFDF5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029200" y="15544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עם Stream Line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8092440" y="2148840"/>
            <a:ext cx="164592" cy="16459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5120640" y="21031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טפסים דיגיטליים מהטלפון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092440" y="2560320"/>
            <a:ext cx="164592" cy="16459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2" name="Text 20"/>
          <p:cNvSpPr/>
          <p:nvPr/>
        </p:nvSpPr>
        <p:spPr>
          <a:xfrm>
            <a:off x="5120640" y="25146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חתימה אלקטרונית מרחוק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092440" y="2971800"/>
            <a:ext cx="164592" cy="16459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4" name="Text 22"/>
          <p:cNvSpPr/>
          <p:nvPr/>
        </p:nvSpPr>
        <p:spPr>
          <a:xfrm>
            <a:off x="5120640" y="29260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גיבוי אוטומטי בענן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92440" y="3383280"/>
            <a:ext cx="164592" cy="16459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6" name="Text 24"/>
          <p:cNvSpPr/>
          <p:nvPr/>
        </p:nvSpPr>
        <p:spPr>
          <a:xfrm>
            <a:off x="5120640" y="33375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חיפוש מיידי — שניות במקום דקות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092440" y="3794760"/>
            <a:ext cx="164592" cy="16459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8" name="Text 26"/>
          <p:cNvSpPr/>
          <p:nvPr/>
        </p:nvSpPr>
        <p:spPr>
          <a:xfrm>
            <a:off x="5120640" y="37490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חיסכון של עשרות אלפי שקל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דפי נחיתה מחוברים למערכת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E88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ליד שנכנס — מטופל אוטומטית, בלי עבודה ידנית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920240" cy="2377440"/>
          </a:xfrm>
          <a:prstGeom prst="roundRect">
            <a:avLst>
              <a:gd name="adj" fmla="val 4762"/>
            </a:avLst>
          </a:prstGeom>
          <a:solidFill>
            <a:srgbClr val="F5F8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97280" y="1600200"/>
            <a:ext cx="548640" cy="548640"/>
          </a:xfrm>
          <a:prstGeom prst="ellipse">
            <a:avLst/>
          </a:prstGeom>
          <a:solidFill>
            <a:srgbClr val="2568B0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22402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דף נחיתה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6060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הורה רואה מודעה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ונכנס לדף רישום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מקצועי ומותאם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331720" y="2286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8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&gt;&gt;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651760" y="1463040"/>
            <a:ext cx="1920240" cy="2377440"/>
          </a:xfrm>
          <a:prstGeom prst="roundRect">
            <a:avLst>
              <a:gd name="adj" fmla="val 4762"/>
            </a:avLst>
          </a:prstGeom>
          <a:solidFill>
            <a:srgbClr val="F5F8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91840" y="1600200"/>
            <a:ext cx="548640" cy="548640"/>
          </a:xfrm>
          <a:prstGeom prst="ellipse">
            <a:avLst/>
          </a:prstGeom>
          <a:solidFill>
            <a:srgbClr val="075E54"/>
          </a:solidFill>
          <a:ln/>
        </p:spPr>
      </p:sp>
      <p:sp>
        <p:nvSpPr>
          <p:cNvPr id="12" name="Text 10"/>
          <p:cNvSpPr/>
          <p:nvPr/>
        </p:nvSpPr>
        <p:spPr>
          <a:xfrm>
            <a:off x="32918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743200" y="22402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5E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Bot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743200" y="26060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הבוט עונה מיידית,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שואל גיל ורמה,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מציע קבוצה מתאימה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26280" y="2286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8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&gt;&gt;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846320" y="1463040"/>
            <a:ext cx="1920240" cy="2377440"/>
          </a:xfrm>
          <a:prstGeom prst="roundRect">
            <a:avLst>
              <a:gd name="adj" fmla="val 4762"/>
            </a:avLst>
          </a:prstGeom>
          <a:solidFill>
            <a:srgbClr val="F5F8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0" y="1600200"/>
            <a:ext cx="548640" cy="5486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937760" y="22402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37760" y="26060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הליד נכנס אוטומטית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למערכת — שם, טלפון,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קבוצה, סטטוס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720840" y="2286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8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&gt;&gt;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040880" y="1463040"/>
            <a:ext cx="1920240" cy="2377440"/>
          </a:xfrm>
          <a:prstGeom prst="roundRect">
            <a:avLst>
              <a:gd name="adj" fmla="val 4762"/>
            </a:avLst>
          </a:prstGeom>
          <a:solidFill>
            <a:srgbClr val="F5F8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680960" y="1600200"/>
            <a:ext cx="548640" cy="54864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132320" y="22402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תשלום PayMe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132320" y="26060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ההורה משלם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מהטלפון — בלי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להגיע למשרד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411480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416052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88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בונוס: </a:t>
            </a:r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דפי נחיתה מקצועיים כלולים בחבילת WhatsApp — מחוברים ישירות למערכת, בלי עלות נוספת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ההשקעה מחזירה את עצמה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F5F8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1430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1%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מהמחזור השנתי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(9.3M ש"ח)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474720" y="109728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F5F8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474720" y="11430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474720" y="1965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עובד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במשרה מלאה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09360" y="109728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F5F8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309360" y="11430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8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6309360" y="1965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הפחתה בעומס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טלפוני</a:t>
            </a:r>
            <a:endParaRPr lang="en-US" sz="11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57200" y="2743200"/>
          <a:ext cx="822960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12801600" cy="4572000"/>
          </a:xfrm>
          <a:prstGeom prst="ellipse">
            <a:avLst/>
          </a:prstGeom>
          <a:solidFill>
            <a:srgbClr val="2568B0">
              <a:alpha val="2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ביחד — ניקח את בית הספר לשחייה לעידן הדיגיטלי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828800" cy="1828800"/>
          </a:xfrm>
          <a:prstGeom prst="roundRect">
            <a:avLst>
              <a:gd name="adj" fmla="val 5000"/>
            </a:avLst>
          </a:prstGeom>
          <a:solidFill>
            <a:srgbClr val="FFFFFF">
              <a:alpha val="1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88720" y="1828800"/>
            <a:ext cx="548640" cy="548640"/>
          </a:xfrm>
          <a:prstGeom prst="ellipse">
            <a:avLst/>
          </a:prstGeom>
          <a:solidFill>
            <a:srgbClr val="2568B0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DA8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תלמידים,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DA8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נוכחות, דוחות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51760" y="1737360"/>
            <a:ext cx="1828800" cy="1828800"/>
          </a:xfrm>
          <a:prstGeom prst="roundRect">
            <a:avLst>
              <a:gd name="adj" fmla="val 5000"/>
            </a:avLst>
          </a:prstGeom>
          <a:solidFill>
            <a:srgbClr val="FFFFFF">
              <a:alpha val="1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291840" y="1828800"/>
            <a:ext cx="548640" cy="548640"/>
          </a:xfrm>
          <a:prstGeom prst="ellipse">
            <a:avLst/>
          </a:prstGeom>
          <a:solidFill>
            <a:srgbClr val="00B0FF"/>
          </a:solidFill>
          <a:ln/>
        </p:spPr>
      </p:sp>
      <p:sp>
        <p:nvSpPr>
          <p:cNvPr id="11" name="Text 9"/>
          <p:cNvSpPr/>
          <p:nvPr/>
        </p:nvSpPr>
        <p:spPr>
          <a:xfrm>
            <a:off x="329184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743200" y="24688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סליקה דיגיטלית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43200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DA8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תשלומים מהטלפון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DA8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ללא ניהול תקין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54880" y="1737360"/>
            <a:ext cx="1828800" cy="1828800"/>
          </a:xfrm>
          <a:prstGeom prst="roundRect">
            <a:avLst>
              <a:gd name="adj" fmla="val 5000"/>
            </a:avLst>
          </a:prstGeom>
          <a:solidFill>
            <a:srgbClr val="FFFFFF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5394960" y="1828800"/>
            <a:ext cx="548640" cy="548640"/>
          </a:xfrm>
          <a:prstGeom prst="ellipse">
            <a:avLst/>
          </a:prstGeom>
          <a:solidFill>
            <a:srgbClr val="075E54"/>
          </a:solidFill>
          <a:ln/>
        </p:spPr>
      </p:sp>
      <p:sp>
        <p:nvSpPr>
          <p:cNvPr id="16" name="Text 14"/>
          <p:cNvSpPr/>
          <p:nvPr/>
        </p:nvSpPr>
        <p:spPr>
          <a:xfrm>
            <a:off x="539496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846320" y="24688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Bot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46320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DA8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מענה אוטומטי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DA8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+ דפי נחיתה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58000" y="1737360"/>
            <a:ext cx="1828800" cy="1828800"/>
          </a:xfrm>
          <a:prstGeom prst="roundRect">
            <a:avLst>
              <a:gd name="adj" fmla="val 5000"/>
            </a:avLst>
          </a:prstGeom>
          <a:solidFill>
            <a:srgbClr val="FFFFFF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7498080" y="1828800"/>
            <a:ext cx="548640" cy="5486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949440" y="24688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טפסים דיגיטליים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949440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DA8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חתימה מרחוק,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DA8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אפס נייר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" y="39319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88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?מה השלב הבא</a:t>
            </a:r>
            <a:endParaRPr lang="en-US" sz="2200" dirty="0"/>
          </a:p>
        </p:txBody>
      </p:sp>
      <p:pic>
        <p:nvPicPr>
          <p:cNvPr id="25" name="Image 0" descr="/sessions/beautiful-awesome-goldberg/mnt/pool-app-cursor/public/stream-line-logo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4206240"/>
            <a:ext cx="914400" cy="914400"/>
          </a:xfrm>
          <a:prstGeom prst="rect">
            <a:avLst/>
          </a:prstGeom>
        </p:spPr>
      </p:pic>
      <p:pic>
        <p:nvPicPr>
          <p:cNvPr id="26" name="Image 1" descr="/sessions/beautiful-awesome-goldberg/mnt/pool-app-cursor/public/log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132320" y="4297680"/>
            <a:ext cx="1463040" cy="548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Stream Line - מרכז ספורט נווה עוז</dc:title>
  <dc:subject>PptxGenJS Presentation</dc:subject>
  <dc:creator>Stream Line</dc:creator>
  <cp:lastModifiedBy>Stream Line</cp:lastModifiedBy>
  <cp:revision>1</cp:revision>
  <dcterms:created xsi:type="dcterms:W3CDTF">2026-06-26T06:29:38Z</dcterms:created>
  <dcterms:modified xsi:type="dcterms:W3CDTF">2026-06-26T06:29:38Z</dcterms:modified>
</cp:coreProperties>
</file>